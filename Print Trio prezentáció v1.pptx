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0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samboki Zoltan" initials="ZZ" lastIdx="1" clrIdx="0">
    <p:extLst>
      <p:ext uri="{19B8F6BF-5375-455C-9EA6-DF929625EA0E}">
        <p15:presenceInfo xmlns:p15="http://schemas.microsoft.com/office/powerpoint/2012/main" userId="S-1-5-21-3144643186-2900958290-3357042225-266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D8F0"/>
    <a:srgbClr val="00C8FF"/>
    <a:srgbClr val="070F23"/>
    <a:srgbClr val="E6E6E6"/>
    <a:srgbClr val="D9F4FB"/>
    <a:srgbClr val="1697BA"/>
    <a:srgbClr val="1AB6E0"/>
    <a:srgbClr val="070E1F"/>
    <a:srgbClr val="8AA6E6"/>
    <a:srgbClr val="CFD9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66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11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ADDCD-B358-4023-A992-E1F03A173D2E}" type="datetimeFigureOut">
              <a:rPr lang="hu-HU" smtClean="0"/>
              <a:t>2026. 03. 25.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D027CE-1073-4ADD-9A4F-6F234222A74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5239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493B5E3-16A8-4D29-B5B5-3D727FBA4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67C4380-14F7-4926-963F-6AD76EE7A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2A4C7A5-CE3F-4D55-9066-50736F2F3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30C79-59A3-43C4-9890-3C89D30C6833}" type="datetimeFigureOut">
              <a:rPr lang="hu-HU" smtClean="0"/>
              <a:t>2026. 03. 25.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2B1F0C6-7560-4D5A-9175-EB4569531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5D6518D-6DF5-4DC9-8EF5-E08CA32AC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E8FA-E51B-4984-BDB1-07B7140AE4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60572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BC6C60-AFB4-4675-96E9-E13BAC320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E4BCE32-EB86-4E20-86D6-714330EEC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14BE515-31C4-4B02-9B23-230372C3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30C79-59A3-43C4-9890-3C89D30C6833}" type="datetimeFigureOut">
              <a:rPr lang="hu-HU" smtClean="0"/>
              <a:t>2026. 03. 25.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271D7F4-C345-445A-B9A1-F52530364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0BF0BFE-7760-4F03-A24E-48461F03F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E8FA-E51B-4984-BDB1-07B7140AE4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92426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7882E6B-7BD4-43D4-A457-24094F97C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1988FF1-CF09-41FE-B9C3-7026948C6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8282ACA-EE57-4EFF-9C16-E2CD58647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30C79-59A3-43C4-9890-3C89D30C6833}" type="datetimeFigureOut">
              <a:rPr lang="hu-HU" smtClean="0"/>
              <a:t>2026. 03. 25.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91BB2AA-2715-4051-9C3D-060A6A58D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D09556F-5F76-428C-90E4-5A1EDF51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E8FA-E51B-4984-BDB1-07B7140AE4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23444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66E7DEC-3031-452B-93EF-D740E53FC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4D93B72-819B-4B1D-BBC5-0B1587FA16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FF9C564-332F-4C82-BB10-EE2D1CC0A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172E842-5BC0-4B77-A6EE-7C65655BF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30C79-59A3-43C4-9890-3C89D30C6833}" type="datetimeFigureOut">
              <a:rPr lang="hu-HU" smtClean="0"/>
              <a:t>2026. 03. 25.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E3E5780-8B2A-4D6C-9022-AC3272854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2FF70CC-CA51-4AE0-8A84-B8D0C4E7D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E8FA-E51B-4984-BDB1-07B7140AE4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09794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2B6B40F-527C-4018-9CD0-5B6B16204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ABB3E5A-A587-423A-ABD9-CA9DB4330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3122522-A057-4E57-A656-3F5CD5E00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9C6F7279-1C48-4055-AC23-1612F8AE1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8E8F87B-1785-48CD-B9AE-77743DFD1A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FEC4BEC3-8802-4398-AC4B-56C0717BA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30C79-59A3-43C4-9890-3C89D30C6833}" type="datetimeFigureOut">
              <a:rPr lang="hu-HU" smtClean="0"/>
              <a:t>2026. 03. 25.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307AAA33-6BA3-4647-B018-EC9E2754E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92828F69-064B-43A3-BDAA-CD7741AD5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E8FA-E51B-4984-BDB1-07B7140AE4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60262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796118D-5BAB-4E01-A952-F953518B6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B40FD2FD-1D31-4926-8BCA-6FC58528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30C79-59A3-43C4-9890-3C89D30C6833}" type="datetimeFigureOut">
              <a:rPr lang="hu-HU" smtClean="0"/>
              <a:t>2026. 03. 25.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B67BB7DC-68DD-4080-BA20-C4CDA7793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E15B737-92A9-4BFA-8C57-025025477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E8FA-E51B-4984-BDB1-07B7140AE4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89474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4A3AB215-58E2-4961-8BDA-880E19093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30C79-59A3-43C4-9890-3C89D30C6833}" type="datetimeFigureOut">
              <a:rPr lang="hu-HU" smtClean="0"/>
              <a:t>2026. 03. 25.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4ECF4FFF-B5BE-4F20-AF1C-A81F3DC1B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0DF7ED1-C04A-47C3-973C-1167B2654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E8FA-E51B-4984-BDB1-07B7140AE4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9845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F0A4D3B-BFFB-4DC0-91AA-92138EB7C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22BB2E9-FAD7-4FAE-B76B-E5C621989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E449991-D60D-4A15-BDED-AEF524F84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EF4482D-EB39-46E5-8AC5-31665E853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30C79-59A3-43C4-9890-3C89D30C6833}" type="datetimeFigureOut">
              <a:rPr lang="hu-HU" smtClean="0"/>
              <a:t>2026. 03. 25.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9C29B31-9A8C-4059-B087-6A994027A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65745AD-3C3C-4056-A279-86C9BCAF3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E8FA-E51B-4984-BDB1-07B7140AE4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0124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D8DED5A-F33A-4CC3-8CCC-FC3FB690A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440496FE-89BD-4197-B0F5-FD85C08157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5A143E7-D647-4011-931E-8334500E3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DF27166-9372-4565-AAEC-1C03EB7E4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30C79-59A3-43C4-9890-3C89D30C6833}" type="datetimeFigureOut">
              <a:rPr lang="hu-HU" smtClean="0"/>
              <a:t>2026. 03. 25.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61B593B-A750-4A09-8AE3-84DD9DCC0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23FB8B4-DC6D-4D32-98E5-C9BCFB2F2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E8FA-E51B-4984-BDB1-07B7140AE4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94589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2F98ECE-B18A-413F-AB0C-C41807DF1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7F82957E-69E1-4552-B1FE-D263738B4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6E30E09-7DEF-457D-A817-5D9C4A62A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30C79-59A3-43C4-9890-3C89D30C6833}" type="datetimeFigureOut">
              <a:rPr lang="hu-HU" smtClean="0"/>
              <a:t>2026. 03. 25.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0E388BB-7591-4378-9DC8-755399CFF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6289BAF-78A9-4B64-804D-9715A8B9B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E8FA-E51B-4984-BDB1-07B7140AE4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88086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7573C61D-A939-4EC4-9859-BDD0343589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FF337D7-410F-48FE-839D-49607421C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5A21B8F-003B-466C-8AA3-219218536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30C79-59A3-43C4-9890-3C89D30C6833}" type="datetimeFigureOut">
              <a:rPr lang="hu-HU" smtClean="0"/>
              <a:t>2026. 03. 25.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D3EC9F1-C43B-47F9-B89D-8E999ACBA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8B483B5-598C-42E9-98B2-2E3F5CF83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E8FA-E51B-4984-BDB1-07B7140AE4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38498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BDE38B93-DFB0-4E1C-A4B2-F95B1DA86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C4CC62E-299C-4DBC-9BE8-245B2D03F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B32D5CD-EB53-4F5B-853C-55EFA43D33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30C79-59A3-43C4-9890-3C89D30C6833}" type="datetimeFigureOut">
              <a:rPr lang="hu-HU" smtClean="0"/>
              <a:t>2026. 03. 25.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9F4D47A-0EE2-499D-8569-FF5BDBAF2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667EB70-F0D0-4665-A7FB-5797D6E9AF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CE8FA-E51B-4984-BDB1-07B7140AE4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7198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924AE3-5C89-45F9-A354-51FF85F6F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3365" y="3617789"/>
            <a:ext cx="4325257" cy="1262063"/>
          </a:xfrm>
        </p:spPr>
        <p:txBody>
          <a:bodyPr>
            <a:normAutofit/>
          </a:bodyPr>
          <a:lstStyle/>
          <a:p>
            <a:r>
              <a:rPr lang="hu-HU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</a:t>
            </a:r>
            <a:r>
              <a:rPr lang="hu-HU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Trio</a:t>
            </a:r>
            <a:r>
              <a:rPr lang="hu-HU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3D15C8F-A966-48E0-BA5F-CE9467259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561" y="4984632"/>
            <a:ext cx="7432867" cy="436562"/>
          </a:xfrm>
        </p:spPr>
        <p:txBody>
          <a:bodyPr>
            <a:normAutofit/>
          </a:bodyPr>
          <a:lstStyle/>
          <a:p>
            <a:r>
              <a:rPr lang="hu-HU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Készítette: Marosán Zoltán, </a:t>
            </a:r>
            <a:r>
              <a:rPr lang="hu-HU" i="1" dirty="0" err="1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Hidi</a:t>
            </a:r>
            <a:r>
              <a:rPr lang="hu-HU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Roland, Zsámboki Zoltán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3D699CF3-090C-4BFB-8227-FC448A5222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515" y="792970"/>
            <a:ext cx="3234958" cy="213836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571FA1BB-645D-45B9-A6D9-5422C41ABAD8}"/>
              </a:ext>
            </a:extLst>
          </p:cNvPr>
          <p:cNvSpPr/>
          <p:nvPr/>
        </p:nvSpPr>
        <p:spPr>
          <a:xfrm>
            <a:off x="1915490" y="3545158"/>
            <a:ext cx="8361006" cy="2669383"/>
          </a:xfrm>
          <a:prstGeom prst="roundRect">
            <a:avLst/>
          </a:prstGeom>
          <a:solidFill>
            <a:srgbClr val="070E1F">
              <a:alpha val="0"/>
            </a:srgbClr>
          </a:solidFill>
          <a:ln w="28575">
            <a:solidFill>
              <a:srgbClr val="7DD8F0"/>
            </a:solidFill>
          </a:ln>
          <a:effectLst>
            <a:glow rad="101600">
              <a:srgbClr val="7DD8F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223A38B1-90C3-42DC-AD05-35BDFE12B812}"/>
              </a:ext>
            </a:extLst>
          </p:cNvPr>
          <p:cNvCxnSpPr>
            <a:cxnSpLocks/>
          </p:cNvCxnSpPr>
          <p:nvPr/>
        </p:nvCxnSpPr>
        <p:spPr>
          <a:xfrm>
            <a:off x="4124794" y="3175565"/>
            <a:ext cx="3942401" cy="0"/>
          </a:xfrm>
          <a:prstGeom prst="line">
            <a:avLst/>
          </a:prstGeom>
          <a:ln w="22225">
            <a:solidFill>
              <a:srgbClr val="7DD8F0"/>
            </a:solidFill>
          </a:ln>
          <a:effectLst>
            <a:glow rad="63500">
              <a:srgbClr val="7DD8F0">
                <a:alpha val="4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19">
            <a:extLst>
              <a:ext uri="{FF2B5EF4-FFF2-40B4-BE49-F238E27FC236}">
                <a16:creationId xmlns:a16="http://schemas.microsoft.com/office/drawing/2014/main" id="{1836DC83-4AF5-4978-ACAB-9A1C4C88146F}"/>
              </a:ext>
            </a:extLst>
          </p:cNvPr>
          <p:cNvCxnSpPr/>
          <p:nvPr/>
        </p:nvCxnSpPr>
        <p:spPr>
          <a:xfrm>
            <a:off x="3462507" y="4879850"/>
            <a:ext cx="5486400" cy="0"/>
          </a:xfrm>
          <a:prstGeom prst="line">
            <a:avLst/>
          </a:prstGeom>
          <a:ln>
            <a:solidFill>
              <a:srgbClr val="7DD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6388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8A69AB-7B5F-4E62-A046-AD4B587E6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7870371" cy="883784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Print </a:t>
            </a:r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Trio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Kft. bemutatása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CCCB49F-F7B9-421D-9D51-6CF3EA3A6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42" y="1088572"/>
            <a:ext cx="6796315" cy="5587997"/>
          </a:xfrm>
          <a:ln>
            <a:solidFill>
              <a:srgbClr val="7DD8F0"/>
            </a:solidFill>
          </a:ln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hu-HU" sz="2200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Print </a:t>
            </a:r>
            <a:r>
              <a:rPr lang="hu-HU" sz="2200" dirty="0" err="1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Trio</a:t>
            </a:r>
            <a:r>
              <a:rPr lang="hu-HU" sz="2200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Kft. egy magyar tulajdonban lévő, dinamikusan fejlődő középvállalat, amely nyomdaipari, grafikai és logisztikai szolgáltatásokat nyújt.</a:t>
            </a:r>
          </a:p>
          <a:p>
            <a:pPr marL="0" indent="0" algn="just">
              <a:buNone/>
            </a:pPr>
            <a:endParaRPr lang="hu-HU" sz="2400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hu-HU" sz="2400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2400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hu-HU" b="1" dirty="0">
                <a:solidFill>
                  <a:srgbClr val="D9F4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2011</a:t>
            </a:r>
            <a:r>
              <a:rPr lang="hu-HU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hu-HU" sz="2400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hu-HU" sz="20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Alapítva</a:t>
            </a:r>
          </a:p>
          <a:p>
            <a:pPr marL="0" indent="0" algn="just">
              <a:buNone/>
            </a:pPr>
            <a:endParaRPr lang="hu-HU" sz="20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2400" b="1" dirty="0">
                <a:solidFill>
                  <a:srgbClr val="D9F4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hu-HU" b="1" dirty="0">
                <a:solidFill>
                  <a:srgbClr val="D9F4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~145 fő</a:t>
            </a:r>
            <a:r>
              <a:rPr lang="hu-HU" sz="2400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hu-HU" sz="20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Létszám</a:t>
            </a:r>
          </a:p>
          <a:p>
            <a:pPr marL="0" indent="0" algn="just">
              <a:buNone/>
            </a:pPr>
            <a:endParaRPr lang="hu-HU" sz="20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2400" dirty="0">
                <a:solidFill>
                  <a:srgbClr val="1AB6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hu-HU" b="1" dirty="0">
                <a:solidFill>
                  <a:srgbClr val="D9F4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helyszín</a:t>
            </a:r>
            <a:r>
              <a:rPr lang="hu-HU" sz="2400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hu-HU" sz="20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Telephely</a:t>
            </a:r>
          </a:p>
          <a:p>
            <a:pPr marL="0" indent="0" algn="just">
              <a:buNone/>
            </a:pPr>
            <a:endParaRPr lang="hu-HU" sz="2400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20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Kiemelt partner:</a:t>
            </a:r>
          </a:p>
          <a:p>
            <a:pPr marL="0" indent="0" algn="just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SPAR Magyarország	</a:t>
            </a:r>
            <a:r>
              <a:rPr lang="hu-HU" sz="2400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~6,5 M Ft/hó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500808C7-7BF2-47EF-94A9-28BDA14C17A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887" y="62725"/>
            <a:ext cx="1147913" cy="75833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AB3B5D07-5FD1-47F8-8D80-D52C3D52D75C}"/>
              </a:ext>
            </a:extLst>
          </p:cNvPr>
          <p:cNvCxnSpPr>
            <a:cxnSpLocks/>
          </p:cNvCxnSpPr>
          <p:nvPr/>
        </p:nvCxnSpPr>
        <p:spPr>
          <a:xfrm>
            <a:off x="0" y="898298"/>
            <a:ext cx="12192000" cy="0"/>
          </a:xfrm>
          <a:prstGeom prst="line">
            <a:avLst/>
          </a:prstGeom>
          <a:ln w="38100">
            <a:solidFill>
              <a:srgbClr val="7DD8F0"/>
            </a:solidFill>
          </a:ln>
          <a:effectLst>
            <a:glow rad="101600">
              <a:srgbClr val="7DD8F0">
                <a:alpha val="25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3D9CD8FE-9AA2-43FF-90A8-61ECA12C64C0}"/>
              </a:ext>
            </a:extLst>
          </p:cNvPr>
          <p:cNvCxnSpPr>
            <a:cxnSpLocks/>
          </p:cNvCxnSpPr>
          <p:nvPr/>
        </p:nvCxnSpPr>
        <p:spPr>
          <a:xfrm>
            <a:off x="576942" y="2206173"/>
            <a:ext cx="6796315" cy="0"/>
          </a:xfrm>
          <a:prstGeom prst="line">
            <a:avLst/>
          </a:prstGeom>
          <a:ln w="28575">
            <a:solidFill>
              <a:srgbClr val="7DD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B0C6B40F-78A8-48BC-9A03-380CEB5BCD6A}"/>
              </a:ext>
            </a:extLst>
          </p:cNvPr>
          <p:cNvCxnSpPr>
            <a:cxnSpLocks/>
          </p:cNvCxnSpPr>
          <p:nvPr/>
        </p:nvCxnSpPr>
        <p:spPr>
          <a:xfrm>
            <a:off x="576942" y="5334002"/>
            <a:ext cx="6796315" cy="0"/>
          </a:xfrm>
          <a:prstGeom prst="line">
            <a:avLst/>
          </a:prstGeom>
          <a:ln w="28575">
            <a:solidFill>
              <a:srgbClr val="7DD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A0299CBF-132E-41C5-838D-955F26C0B8C0}"/>
              </a:ext>
            </a:extLst>
          </p:cNvPr>
          <p:cNvSpPr txBox="1"/>
          <p:nvPr/>
        </p:nvSpPr>
        <p:spPr>
          <a:xfrm>
            <a:off x="7710197" y="1104125"/>
            <a:ext cx="3355909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hu-HU" b="1" spc="200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Telephelyek</a:t>
            </a:r>
          </a:p>
        </p:txBody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09157724-C7D9-4024-A9E2-7C8DE994B073}"/>
              </a:ext>
            </a:extLst>
          </p:cNvPr>
          <p:cNvSpPr/>
          <p:nvPr/>
        </p:nvSpPr>
        <p:spPr>
          <a:xfrm>
            <a:off x="7710197" y="1679283"/>
            <a:ext cx="4020976" cy="1437138"/>
          </a:xfrm>
          <a:prstGeom prst="rect">
            <a:avLst/>
          </a:prstGeom>
          <a:solidFill>
            <a:srgbClr val="7DD8F0">
              <a:alpha val="0"/>
            </a:srgbClr>
          </a:solidFill>
          <a:ln w="25400">
            <a:solidFill>
              <a:srgbClr val="7DD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hu-HU" dirty="0"/>
          </a:p>
          <a:p>
            <a:r>
              <a:rPr lang="hu-HU" dirty="0"/>
              <a:t>	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Vecsés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hu-HU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Logisztikai, fejlesztési</a:t>
            </a:r>
            <a:endParaRPr lang="hu-HU" b="0" dirty="0">
              <a:solidFill>
                <a:srgbClr val="7DD8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és kiszállítási központ</a:t>
            </a:r>
            <a:endParaRPr lang="hu-HU" b="0" dirty="0">
              <a:solidFill>
                <a:srgbClr val="7DD8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hu-HU" dirty="0"/>
            </a:br>
            <a:endParaRPr lang="hu-HU" dirty="0"/>
          </a:p>
        </p:txBody>
      </p:sp>
      <p:sp>
        <p:nvSpPr>
          <p:cNvPr id="28" name="Téglalap 27">
            <a:extLst>
              <a:ext uri="{FF2B5EF4-FFF2-40B4-BE49-F238E27FC236}">
                <a16:creationId xmlns:a16="http://schemas.microsoft.com/office/drawing/2014/main" id="{41CCAFF1-AA1A-45E6-B33A-F8D1EB1E3135}"/>
              </a:ext>
            </a:extLst>
          </p:cNvPr>
          <p:cNvSpPr/>
          <p:nvPr/>
        </p:nvSpPr>
        <p:spPr>
          <a:xfrm>
            <a:off x="7710197" y="3429000"/>
            <a:ext cx="4020976" cy="1437138"/>
          </a:xfrm>
          <a:prstGeom prst="rect">
            <a:avLst/>
          </a:prstGeom>
          <a:solidFill>
            <a:schemeClr val="accent1">
              <a:alpha val="0"/>
            </a:schemeClr>
          </a:solidFill>
          <a:ln w="25400">
            <a:solidFill>
              <a:srgbClr val="7DD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dirty="0"/>
              <a:t>	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Gyál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hu-HU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Nyomdai üzem</a:t>
            </a:r>
            <a:endParaRPr lang="hu-HU" b="0" dirty="0">
              <a:solidFill>
                <a:srgbClr val="7DD8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Gyártási folyamatok</a:t>
            </a:r>
            <a:br>
              <a:rPr lang="hu-HU" dirty="0"/>
            </a:br>
            <a:endParaRPr lang="hu-HU" dirty="0"/>
          </a:p>
        </p:txBody>
      </p:sp>
      <p:sp>
        <p:nvSpPr>
          <p:cNvPr id="29" name="Téglalap 28">
            <a:extLst>
              <a:ext uri="{FF2B5EF4-FFF2-40B4-BE49-F238E27FC236}">
                <a16:creationId xmlns:a16="http://schemas.microsoft.com/office/drawing/2014/main" id="{E16500A5-873E-4466-82ED-C259EB46E476}"/>
              </a:ext>
            </a:extLst>
          </p:cNvPr>
          <p:cNvSpPr/>
          <p:nvPr/>
        </p:nvSpPr>
        <p:spPr>
          <a:xfrm>
            <a:off x="7710197" y="5178717"/>
            <a:ext cx="4020976" cy="1437138"/>
          </a:xfrm>
          <a:prstGeom prst="rect">
            <a:avLst/>
          </a:prstGeom>
          <a:solidFill>
            <a:schemeClr val="accent1">
              <a:alpha val="0"/>
            </a:schemeClr>
          </a:solidFill>
          <a:ln w="25400">
            <a:solidFill>
              <a:srgbClr val="7DD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dirty="0"/>
              <a:t>	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Budapest</a:t>
            </a:r>
          </a:p>
          <a:p>
            <a:endParaRPr lang="hu-HU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Központi iroda,</a:t>
            </a:r>
            <a:endParaRPr lang="hu-HU" b="0" dirty="0">
              <a:solidFill>
                <a:srgbClr val="7DD8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Grafikai stúdió</a:t>
            </a:r>
          </a:p>
          <a:p>
            <a:pPr algn="ctr"/>
            <a:endParaRPr lang="hu-HU" dirty="0"/>
          </a:p>
        </p:txBody>
      </p:sp>
      <p:cxnSp>
        <p:nvCxnSpPr>
          <p:cNvPr id="31" name="Egyenes összekötő 30">
            <a:extLst>
              <a:ext uri="{FF2B5EF4-FFF2-40B4-BE49-F238E27FC236}">
                <a16:creationId xmlns:a16="http://schemas.microsoft.com/office/drawing/2014/main" id="{EEA07A9D-4BA1-4B5E-90ED-105312E3F4C3}"/>
              </a:ext>
            </a:extLst>
          </p:cNvPr>
          <p:cNvCxnSpPr/>
          <p:nvPr/>
        </p:nvCxnSpPr>
        <p:spPr>
          <a:xfrm>
            <a:off x="7753632" y="1679283"/>
            <a:ext cx="0" cy="1437138"/>
          </a:xfrm>
          <a:prstGeom prst="line">
            <a:avLst/>
          </a:prstGeom>
          <a:ln w="88900">
            <a:solidFill>
              <a:srgbClr val="7DD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gyenes összekötő 31">
            <a:extLst>
              <a:ext uri="{FF2B5EF4-FFF2-40B4-BE49-F238E27FC236}">
                <a16:creationId xmlns:a16="http://schemas.microsoft.com/office/drawing/2014/main" id="{A9D9AD5F-DC57-4443-B8A9-B129CC69966F}"/>
              </a:ext>
            </a:extLst>
          </p:cNvPr>
          <p:cNvCxnSpPr/>
          <p:nvPr/>
        </p:nvCxnSpPr>
        <p:spPr>
          <a:xfrm>
            <a:off x="7765142" y="3429000"/>
            <a:ext cx="0" cy="1437138"/>
          </a:xfrm>
          <a:prstGeom prst="line">
            <a:avLst/>
          </a:prstGeom>
          <a:ln w="88900">
            <a:solidFill>
              <a:srgbClr val="7DD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gyenes összekötő 32">
            <a:extLst>
              <a:ext uri="{FF2B5EF4-FFF2-40B4-BE49-F238E27FC236}">
                <a16:creationId xmlns:a16="http://schemas.microsoft.com/office/drawing/2014/main" id="{1ABA2206-9016-48A2-96D5-9D3212F9EE90}"/>
              </a:ext>
            </a:extLst>
          </p:cNvPr>
          <p:cNvCxnSpPr/>
          <p:nvPr/>
        </p:nvCxnSpPr>
        <p:spPr>
          <a:xfrm>
            <a:off x="7765142" y="5178717"/>
            <a:ext cx="0" cy="1437138"/>
          </a:xfrm>
          <a:prstGeom prst="line">
            <a:avLst/>
          </a:prstGeom>
          <a:ln w="88900">
            <a:solidFill>
              <a:srgbClr val="7DD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19">
            <a:extLst>
              <a:ext uri="{FF2B5EF4-FFF2-40B4-BE49-F238E27FC236}">
                <a16:creationId xmlns:a16="http://schemas.microsoft.com/office/drawing/2014/main" id="{AF4C10BA-32AB-46F8-AB68-002858FE5C99}"/>
              </a:ext>
            </a:extLst>
          </p:cNvPr>
          <p:cNvSpPr/>
          <p:nvPr/>
        </p:nvSpPr>
        <p:spPr>
          <a:xfrm>
            <a:off x="7753632" y="1832364"/>
            <a:ext cx="998952" cy="113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7DD8F0"/>
                </a:solidFill>
              </a:rPr>
              <a:t>🏭</a:t>
            </a:r>
          </a:p>
        </p:txBody>
      </p:sp>
      <p:sp>
        <p:nvSpPr>
          <p:cNvPr id="18" name="Text 24">
            <a:extLst>
              <a:ext uri="{FF2B5EF4-FFF2-40B4-BE49-F238E27FC236}">
                <a16:creationId xmlns:a16="http://schemas.microsoft.com/office/drawing/2014/main" id="{2973BD47-ACFD-4821-9961-0310FCE1D937}"/>
              </a:ext>
            </a:extLst>
          </p:cNvPr>
          <p:cNvSpPr/>
          <p:nvPr/>
        </p:nvSpPr>
        <p:spPr>
          <a:xfrm>
            <a:off x="7765142" y="3582081"/>
            <a:ext cx="998951" cy="1130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7DD8F0"/>
                </a:solidFill>
              </a:rPr>
              <a:t>🖨️</a:t>
            </a:r>
            <a:endParaRPr lang="en-US" sz="2600" dirty="0">
              <a:solidFill>
                <a:srgbClr val="7DD8F0"/>
              </a:solidFill>
            </a:endParaRPr>
          </a:p>
        </p:txBody>
      </p:sp>
      <p:sp>
        <p:nvSpPr>
          <p:cNvPr id="19" name="Text 29">
            <a:extLst>
              <a:ext uri="{FF2B5EF4-FFF2-40B4-BE49-F238E27FC236}">
                <a16:creationId xmlns:a16="http://schemas.microsoft.com/office/drawing/2014/main" id="{F075914A-C695-4498-94C1-AD9E84E23533}"/>
              </a:ext>
            </a:extLst>
          </p:cNvPr>
          <p:cNvSpPr/>
          <p:nvPr/>
        </p:nvSpPr>
        <p:spPr>
          <a:xfrm>
            <a:off x="7753633" y="5334004"/>
            <a:ext cx="998951" cy="1130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7DD8F0"/>
                </a:solidFill>
              </a:rPr>
              <a:t>🏢</a:t>
            </a:r>
          </a:p>
        </p:txBody>
      </p:sp>
    </p:spTree>
    <p:extLst>
      <p:ext uri="{BB962C8B-B14F-4D97-AF65-F5344CB8AC3E}">
        <p14:creationId xmlns:p14="http://schemas.microsoft.com/office/powerpoint/2010/main" val="1135870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E2863C-457E-4E08-AFF9-8C48574A9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01757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Vecsési Telephely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B4BD7925-0C67-46AF-8C9A-D6286467E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423" y="1068708"/>
            <a:ext cx="5800577" cy="5655209"/>
          </a:xfrm>
          <a:noFill/>
          <a:ln w="19050">
            <a:solidFill>
              <a:srgbClr val="00C8FF"/>
            </a:solidFill>
          </a:ln>
        </p:spPr>
        <p:txBody>
          <a:bodyPr/>
          <a:lstStyle/>
          <a:p>
            <a:pPr marL="0" indent="0" algn="just">
              <a:buNone/>
            </a:pPr>
            <a:r>
              <a:rPr lang="hu-HU" sz="1300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🏭 </a:t>
            </a:r>
            <a:r>
              <a:rPr lang="hu-HU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hu-HU" dirty="0">
                <a:solidFill>
                  <a:srgbClr val="00C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Épület adatok</a:t>
            </a:r>
          </a:p>
          <a:p>
            <a:pPr marL="0" indent="0" algn="just">
              <a:buNone/>
            </a:pPr>
            <a:endParaRPr lang="hu-HU" sz="1300" b="1" dirty="0">
              <a:solidFill>
                <a:srgbClr val="00C8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Cím:			</a:t>
            </a:r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Vecsés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Lőrinci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út</a:t>
            </a: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Alapterület:		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~2 800 m² (</a:t>
            </a:r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nettó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Földszint:		</a:t>
            </a:r>
            <a:r>
              <a:rPr lang="sv-SE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2 000 m² – raktár/logisztika</a:t>
            </a:r>
            <a:endParaRPr lang="hu-HU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Emelet:			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800 m² – </a:t>
            </a:r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fejlesztés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/</a:t>
            </a:r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iroda</a:t>
            </a: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Belmagasság:		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 m (</a:t>
            </a:r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raktár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 / 3-3,2 m (</a:t>
            </a:r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iroda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Épületmagasság:		</a:t>
            </a:r>
            <a:r>
              <a:rPr lang="hu-HU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 m</a:t>
            </a:r>
          </a:p>
          <a:p>
            <a:pPr marL="0" indent="0" algn="just">
              <a:buNone/>
            </a:pP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Dolgozók: 		</a:t>
            </a:r>
            <a:r>
              <a:rPr lang="hu-HU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~45 fő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5AC9DDB-FEAE-49C0-9448-D26A5BDD493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293" y="91692"/>
            <a:ext cx="1138019" cy="71006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86D745DD-DF22-40E7-9D54-67425F095BCB}"/>
              </a:ext>
            </a:extLst>
          </p:cNvPr>
          <p:cNvCxnSpPr>
            <a:cxnSpLocks/>
          </p:cNvCxnSpPr>
          <p:nvPr/>
        </p:nvCxnSpPr>
        <p:spPr>
          <a:xfrm>
            <a:off x="0" y="898298"/>
            <a:ext cx="12192000" cy="0"/>
          </a:xfrm>
          <a:prstGeom prst="line">
            <a:avLst/>
          </a:prstGeom>
          <a:ln w="38100">
            <a:solidFill>
              <a:srgbClr val="7DD8F0"/>
            </a:solidFill>
          </a:ln>
          <a:effectLst>
            <a:glow rad="101600">
              <a:srgbClr val="7DD8F0">
                <a:alpha val="25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églalap 6">
            <a:extLst>
              <a:ext uri="{FF2B5EF4-FFF2-40B4-BE49-F238E27FC236}">
                <a16:creationId xmlns:a16="http://schemas.microsoft.com/office/drawing/2014/main" id="{E44D21EE-C518-4ED0-95F1-1D7832B2124C}"/>
              </a:ext>
            </a:extLst>
          </p:cNvPr>
          <p:cNvSpPr/>
          <p:nvPr/>
        </p:nvSpPr>
        <p:spPr>
          <a:xfrm>
            <a:off x="6795317" y="1171282"/>
            <a:ext cx="5101260" cy="1963795"/>
          </a:xfrm>
          <a:prstGeom prst="rect">
            <a:avLst/>
          </a:prstGeom>
          <a:solidFill>
            <a:srgbClr val="7DD8F0">
              <a:alpha val="0"/>
            </a:srgbClr>
          </a:solidFill>
          <a:ln w="25400">
            <a:solidFill>
              <a:srgbClr val="7DD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hu-HU" dirty="0"/>
          </a:p>
          <a:p>
            <a:pPr algn="just"/>
            <a:r>
              <a:rPr lang="hu-HU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</a:t>
            </a:r>
            <a:r>
              <a:rPr lang="en-US" sz="2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Földszint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–  </a:t>
            </a:r>
            <a:r>
              <a:rPr lang="en-US" sz="2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Raktár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/ </a:t>
            </a:r>
            <a:r>
              <a:rPr lang="en-US" sz="2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Logisztika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hu-H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fő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·  15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raktári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dolgozó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·  5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fő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iroda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Kézi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terminálok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targoncák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árumozgatás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Átvételi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iroda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irattár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hu-HU" dirty="0"/>
            </a:br>
            <a:endParaRPr lang="hu-HU" dirty="0"/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296C5883-5EA5-4B13-8403-E5567AE359FD}"/>
              </a:ext>
            </a:extLst>
          </p:cNvPr>
          <p:cNvCxnSpPr>
            <a:cxnSpLocks/>
          </p:cNvCxnSpPr>
          <p:nvPr/>
        </p:nvCxnSpPr>
        <p:spPr>
          <a:xfrm>
            <a:off x="6821207" y="1171282"/>
            <a:ext cx="0" cy="1963795"/>
          </a:xfrm>
          <a:prstGeom prst="line">
            <a:avLst/>
          </a:prstGeom>
          <a:ln w="88900">
            <a:solidFill>
              <a:srgbClr val="7DD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63B752B3-C66B-4834-AE60-0B4CAC841CC1}"/>
              </a:ext>
            </a:extLst>
          </p:cNvPr>
          <p:cNvSpPr/>
          <p:nvPr/>
        </p:nvSpPr>
        <p:spPr>
          <a:xfrm>
            <a:off x="6795317" y="3567717"/>
            <a:ext cx="5101260" cy="1963795"/>
          </a:xfrm>
          <a:prstGeom prst="rect">
            <a:avLst/>
          </a:prstGeom>
          <a:noFill/>
          <a:ln w="25400">
            <a:solidFill>
              <a:srgbClr val="7DD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hu-HU" dirty="0"/>
          </a:p>
          <a:p>
            <a:r>
              <a:rPr lang="hu-HU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</a:t>
            </a:r>
            <a:r>
              <a:rPr lang="en-US" sz="2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Emelet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–  </a:t>
            </a:r>
            <a:r>
              <a:rPr lang="en-US" sz="2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Fejlesztés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/ </a:t>
            </a:r>
            <a:r>
              <a:rPr lang="en-US" sz="2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Iroda</a:t>
            </a:r>
            <a:endParaRPr lang="hu-HU" sz="2000" b="1" dirty="0">
              <a:solidFill>
                <a:srgbClr val="FFFFF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endParaRPr lang="hu-H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fő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·  15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raktári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dolgozó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·  5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fő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iroda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Kézi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terminálok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targoncák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árumozgatás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Átvételi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iroda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irattár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hu-HU" dirty="0"/>
            </a:br>
            <a:endParaRPr lang="hu-HU" dirty="0"/>
          </a:p>
        </p:txBody>
      </p: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9F623B3A-B350-4D06-B98C-B28EA45C275C}"/>
              </a:ext>
            </a:extLst>
          </p:cNvPr>
          <p:cNvCxnSpPr>
            <a:cxnSpLocks/>
          </p:cNvCxnSpPr>
          <p:nvPr/>
        </p:nvCxnSpPr>
        <p:spPr>
          <a:xfrm>
            <a:off x="6821207" y="3567717"/>
            <a:ext cx="0" cy="1963795"/>
          </a:xfrm>
          <a:prstGeom prst="line">
            <a:avLst/>
          </a:prstGeom>
          <a:ln w="88900">
            <a:solidFill>
              <a:srgbClr val="7DD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hape 31">
            <a:extLst>
              <a:ext uri="{FF2B5EF4-FFF2-40B4-BE49-F238E27FC236}">
                <a16:creationId xmlns:a16="http://schemas.microsoft.com/office/drawing/2014/main" id="{5ABC53ED-30C5-4CBD-ADBF-668D35D58D47}"/>
              </a:ext>
            </a:extLst>
          </p:cNvPr>
          <p:cNvSpPr/>
          <p:nvPr/>
        </p:nvSpPr>
        <p:spPr>
          <a:xfrm>
            <a:off x="6795316" y="5860466"/>
            <a:ext cx="5101253" cy="530352"/>
          </a:xfrm>
          <a:prstGeom prst="rect">
            <a:avLst/>
          </a:prstGeom>
          <a:solidFill>
            <a:srgbClr val="030F28">
              <a:alpha val="55000"/>
            </a:srgbClr>
          </a:solidFill>
          <a:ln w="10160">
            <a:solidFill>
              <a:srgbClr val="00557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13" name="Text 32">
            <a:extLst>
              <a:ext uri="{FF2B5EF4-FFF2-40B4-BE49-F238E27FC236}">
                <a16:creationId xmlns:a16="http://schemas.microsoft.com/office/drawing/2014/main" id="{803EEAF2-01D0-4FAC-B341-2BBC4ACC4701}"/>
              </a:ext>
            </a:extLst>
          </p:cNvPr>
          <p:cNvSpPr/>
          <p:nvPr/>
        </p:nvSpPr>
        <p:spPr>
          <a:xfrm>
            <a:off x="6795308" y="5856439"/>
            <a:ext cx="5396683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📹  Kamerarendszer:  18 db raktár  ·  7 db iroda  ·  10 db kültér  =  35 db összesen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314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E2863C-457E-4E08-AFF9-8C48574A9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01757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Vecsés – </a:t>
            </a:r>
            <a:r>
              <a:rPr lang="hu-HU" sz="4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Épület alaprajza és Wi-Fi lefedettség 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5AC9DDB-FEAE-49C0-9448-D26A5BDD493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293" y="91692"/>
            <a:ext cx="1138019" cy="71006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86D745DD-DF22-40E7-9D54-67425F095BCB}"/>
              </a:ext>
            </a:extLst>
          </p:cNvPr>
          <p:cNvCxnSpPr>
            <a:cxnSpLocks/>
          </p:cNvCxnSpPr>
          <p:nvPr/>
        </p:nvCxnSpPr>
        <p:spPr>
          <a:xfrm>
            <a:off x="0" y="898298"/>
            <a:ext cx="12192000" cy="0"/>
          </a:xfrm>
          <a:prstGeom prst="line">
            <a:avLst/>
          </a:prstGeom>
          <a:ln w="38100">
            <a:solidFill>
              <a:srgbClr val="7DD8F0"/>
            </a:solidFill>
          </a:ln>
          <a:effectLst>
            <a:glow rad="101600">
              <a:srgbClr val="7DD8F0">
                <a:alpha val="25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hape 4">
            <a:extLst>
              <a:ext uri="{FF2B5EF4-FFF2-40B4-BE49-F238E27FC236}">
                <a16:creationId xmlns:a16="http://schemas.microsoft.com/office/drawing/2014/main" id="{3D371952-ECA4-4576-B132-E32E2FDBB434}"/>
              </a:ext>
            </a:extLst>
          </p:cNvPr>
          <p:cNvSpPr/>
          <p:nvPr/>
        </p:nvSpPr>
        <p:spPr>
          <a:xfrm>
            <a:off x="448655" y="1038250"/>
            <a:ext cx="3296030" cy="2884617"/>
          </a:xfrm>
          <a:prstGeom prst="rect">
            <a:avLst/>
          </a:prstGeom>
          <a:solidFill>
            <a:srgbClr val="030F28">
              <a:alpha val="55000"/>
            </a:srgbClr>
          </a:solidFill>
          <a:ln w="38100">
            <a:solidFill>
              <a:srgbClr val="00C8FF">
                <a:alpha val="65000"/>
              </a:srgbClr>
            </a:solidFill>
            <a:prstDash val="solid"/>
          </a:ln>
        </p:spPr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4AFC1C8E-0F45-4149-8769-6B5D5832C68B}"/>
              </a:ext>
            </a:extLst>
          </p:cNvPr>
          <p:cNvSpPr/>
          <p:nvPr/>
        </p:nvSpPr>
        <p:spPr>
          <a:xfrm>
            <a:off x="448654" y="1074741"/>
            <a:ext cx="3111863" cy="289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spc="150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Földszint</a:t>
            </a:r>
            <a:endParaRPr lang="en-US" sz="1200" spc="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E9A03E2D-5789-41FA-ABC3-036E8CA51C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6225" b="-6225"/>
          <a:stretch/>
        </p:blipFill>
        <p:spPr>
          <a:xfrm>
            <a:off x="540738" y="1263249"/>
            <a:ext cx="3111863" cy="2659478"/>
          </a:xfrm>
          <a:prstGeom prst="rect">
            <a:avLst/>
          </a:prstGeom>
        </p:spPr>
      </p:pic>
      <p:sp>
        <p:nvSpPr>
          <p:cNvPr id="20" name="Shape 6">
            <a:extLst>
              <a:ext uri="{FF2B5EF4-FFF2-40B4-BE49-F238E27FC236}">
                <a16:creationId xmlns:a16="http://schemas.microsoft.com/office/drawing/2014/main" id="{F64E7B60-7F2B-407D-AF0B-54E484C95DAC}"/>
              </a:ext>
            </a:extLst>
          </p:cNvPr>
          <p:cNvSpPr/>
          <p:nvPr/>
        </p:nvSpPr>
        <p:spPr>
          <a:xfrm flipV="1">
            <a:off x="3077555" y="4062817"/>
            <a:ext cx="3296030" cy="2795181"/>
          </a:xfrm>
          <a:prstGeom prst="rect">
            <a:avLst/>
          </a:prstGeom>
          <a:solidFill>
            <a:srgbClr val="030F28">
              <a:alpha val="55000"/>
            </a:srgbClr>
          </a:solidFill>
          <a:ln w="38100">
            <a:solidFill>
              <a:srgbClr val="00C8FF">
                <a:alpha val="65000"/>
              </a:srgbClr>
            </a:solidFill>
            <a:prstDash val="solid"/>
          </a:ln>
        </p:spPr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D41D3BD6-423E-4030-822D-F5DFC2F8EB84}"/>
              </a:ext>
            </a:extLst>
          </p:cNvPr>
          <p:cNvSpPr/>
          <p:nvPr/>
        </p:nvSpPr>
        <p:spPr>
          <a:xfrm rot="10800000" flipV="1">
            <a:off x="3435974" y="4097212"/>
            <a:ext cx="2579189" cy="247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spc="200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Emelet</a:t>
            </a:r>
            <a:endParaRPr lang="en-US" sz="2000" spc="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Image 2" descr="preencoded.png">
            <a:extLst>
              <a:ext uri="{FF2B5EF4-FFF2-40B4-BE49-F238E27FC236}">
                <a16:creationId xmlns:a16="http://schemas.microsoft.com/office/drawing/2014/main" id="{E9A6D251-298B-4C20-8AF6-F192E538AD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6225" b="-6225"/>
          <a:stretch/>
        </p:blipFill>
        <p:spPr>
          <a:xfrm>
            <a:off x="3169638" y="4207163"/>
            <a:ext cx="3111863" cy="2659476"/>
          </a:xfrm>
          <a:prstGeom prst="rect">
            <a:avLst/>
          </a:prstGeom>
        </p:spPr>
      </p:pic>
      <p:sp>
        <p:nvSpPr>
          <p:cNvPr id="27" name="Shape 4">
            <a:extLst>
              <a:ext uri="{FF2B5EF4-FFF2-40B4-BE49-F238E27FC236}">
                <a16:creationId xmlns:a16="http://schemas.microsoft.com/office/drawing/2014/main" id="{84BC3F6A-602A-4ADB-961A-CB6155C41ADB}"/>
              </a:ext>
            </a:extLst>
          </p:cNvPr>
          <p:cNvSpPr/>
          <p:nvPr/>
        </p:nvSpPr>
        <p:spPr>
          <a:xfrm>
            <a:off x="5579905" y="1052698"/>
            <a:ext cx="3296031" cy="2884608"/>
          </a:xfrm>
          <a:prstGeom prst="rect">
            <a:avLst/>
          </a:prstGeom>
          <a:solidFill>
            <a:srgbClr val="030F28">
              <a:alpha val="55000"/>
            </a:srgbClr>
          </a:solidFill>
          <a:ln w="38100">
            <a:solidFill>
              <a:srgbClr val="00C8FF">
                <a:alpha val="65000"/>
              </a:srgbClr>
            </a:solidFill>
            <a:prstDash val="solid"/>
          </a:ln>
        </p:spPr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8B2589A2-223C-4255-AE6F-245BE7BFD494}"/>
              </a:ext>
            </a:extLst>
          </p:cNvPr>
          <p:cNvSpPr/>
          <p:nvPr/>
        </p:nvSpPr>
        <p:spPr>
          <a:xfrm>
            <a:off x="5992667" y="1029150"/>
            <a:ext cx="247050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spc="150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Földszint  –  7 AP</a:t>
            </a:r>
            <a:endParaRPr lang="en-US" spc="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967C239B-9D0B-4487-A116-7590BD4AED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505" r="-8505"/>
          <a:stretch/>
        </p:blipFill>
        <p:spPr>
          <a:xfrm>
            <a:off x="5535681" y="1358334"/>
            <a:ext cx="3384475" cy="2463999"/>
          </a:xfrm>
          <a:prstGeom prst="rect">
            <a:avLst/>
          </a:prstGeom>
        </p:spPr>
      </p:pic>
      <p:sp>
        <p:nvSpPr>
          <p:cNvPr id="30" name="Shape 6">
            <a:extLst>
              <a:ext uri="{FF2B5EF4-FFF2-40B4-BE49-F238E27FC236}">
                <a16:creationId xmlns:a16="http://schemas.microsoft.com/office/drawing/2014/main" id="{F11BB3A1-1E20-4719-9C47-4DA2B80E6012}"/>
              </a:ext>
            </a:extLst>
          </p:cNvPr>
          <p:cNvSpPr/>
          <p:nvPr/>
        </p:nvSpPr>
        <p:spPr>
          <a:xfrm>
            <a:off x="8920157" y="4062816"/>
            <a:ext cx="3034156" cy="2795181"/>
          </a:xfrm>
          <a:prstGeom prst="rect">
            <a:avLst/>
          </a:prstGeom>
          <a:solidFill>
            <a:srgbClr val="030F28">
              <a:alpha val="55000"/>
            </a:srgbClr>
          </a:solidFill>
          <a:ln w="38100">
            <a:solidFill>
              <a:srgbClr val="00C8FF">
                <a:alpha val="65000"/>
              </a:srgbClr>
            </a:solidFill>
            <a:prstDash val="solid"/>
          </a:ln>
        </p:spPr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D39DF5FA-736F-4879-BD92-EBF7DD0A9AAE}"/>
              </a:ext>
            </a:extLst>
          </p:cNvPr>
          <p:cNvSpPr/>
          <p:nvPr/>
        </p:nvSpPr>
        <p:spPr>
          <a:xfrm>
            <a:off x="8288394" y="4042571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spc="150" dirty="0" err="1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Emelet</a:t>
            </a:r>
            <a:r>
              <a:rPr lang="en-US" b="1" spc="150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–  4 AP</a:t>
            </a:r>
            <a:endParaRPr lang="en-US" spc="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Image 2" descr="preencoded.png">
            <a:extLst>
              <a:ext uri="{FF2B5EF4-FFF2-40B4-BE49-F238E27FC236}">
                <a16:creationId xmlns:a16="http://schemas.microsoft.com/office/drawing/2014/main" id="{D13DD52A-6958-4F2F-98E8-B3EA5213A79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8505" r="-8505"/>
          <a:stretch/>
        </p:blipFill>
        <p:spPr>
          <a:xfrm>
            <a:off x="8823595" y="4344708"/>
            <a:ext cx="3227279" cy="240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69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E2863C-457E-4E08-AFF9-8C48574A9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01757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Vecsési Telephely Hálózata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5AC9DDB-FEAE-49C0-9448-D26A5BDD493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293" y="91692"/>
            <a:ext cx="1138019" cy="71006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86D745DD-DF22-40E7-9D54-67425F095BCB}"/>
              </a:ext>
            </a:extLst>
          </p:cNvPr>
          <p:cNvCxnSpPr>
            <a:cxnSpLocks/>
          </p:cNvCxnSpPr>
          <p:nvPr/>
        </p:nvCxnSpPr>
        <p:spPr>
          <a:xfrm>
            <a:off x="0" y="898298"/>
            <a:ext cx="12192000" cy="0"/>
          </a:xfrm>
          <a:prstGeom prst="line">
            <a:avLst/>
          </a:prstGeom>
          <a:ln w="38100">
            <a:solidFill>
              <a:srgbClr val="7DD8F0"/>
            </a:solidFill>
          </a:ln>
          <a:effectLst>
            <a:glow rad="101600">
              <a:srgbClr val="7DD8F0">
                <a:alpha val="25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022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E2863C-457E-4E08-AFF9-8C48574A9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01757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Budapesti Telephely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B4BD7925-0C67-46AF-8C9A-D6286467E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423" y="1068708"/>
            <a:ext cx="6262857" cy="5655209"/>
          </a:xfrm>
          <a:noFill/>
          <a:ln w="19050">
            <a:solidFill>
              <a:srgbClr val="00C8FF"/>
            </a:solidFill>
          </a:ln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hu-HU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</a:t>
            </a:r>
            <a:r>
              <a:rPr lang="hu-HU" sz="2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2400" dirty="0">
                <a:solidFill>
                  <a:srgbClr val="00C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Épület adatok</a:t>
            </a:r>
          </a:p>
          <a:p>
            <a:pPr marL="0" indent="0" algn="just">
              <a:buNone/>
            </a:pPr>
            <a:endParaRPr lang="hu-HU" sz="1300" b="1" dirty="0">
              <a:solidFill>
                <a:srgbClr val="00C8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Cím:			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XIII. </a:t>
            </a:r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ker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., </a:t>
            </a:r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Angyalföldi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út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Alapterület:		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~</a:t>
            </a:r>
            <a:r>
              <a:rPr lang="hu-HU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00 m² (</a:t>
            </a:r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nettó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Bérleti díj:		</a:t>
            </a:r>
            <a:r>
              <a:rPr lang="hu-HU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1 050 000 Ft/hó</a:t>
            </a:r>
          </a:p>
          <a:p>
            <a:pPr marL="0" indent="0" algn="just">
              <a:buNone/>
            </a:pP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Üzemeltetés:	:	</a:t>
            </a:r>
            <a:r>
              <a:rPr lang="hu-HU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200 000 Ft/hó</a:t>
            </a:r>
          </a:p>
          <a:p>
            <a:pPr marL="0" indent="0" algn="just">
              <a:buNone/>
            </a:pPr>
            <a:endParaRPr lang="hu-HU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Teljes költség:		</a:t>
            </a:r>
            <a:r>
              <a:rPr lang="hu-HU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~1 900 000 Ft/hó</a:t>
            </a:r>
          </a:p>
          <a:p>
            <a:pPr marL="0" indent="0" algn="just">
              <a:buNone/>
            </a:pP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Épületmagasság:		</a:t>
            </a:r>
            <a:r>
              <a:rPr lang="hu-HU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hu-HU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</a:p>
          <a:p>
            <a:pPr marL="0" indent="0" algn="just">
              <a:buNone/>
            </a:pP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Dolgozók: 		</a:t>
            </a:r>
            <a:r>
              <a:rPr lang="hu-HU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~30 fő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5AC9DDB-FEAE-49C0-9448-D26A5BDD493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293" y="91692"/>
            <a:ext cx="1138019" cy="71006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86D745DD-DF22-40E7-9D54-67425F095BCB}"/>
              </a:ext>
            </a:extLst>
          </p:cNvPr>
          <p:cNvCxnSpPr>
            <a:cxnSpLocks/>
          </p:cNvCxnSpPr>
          <p:nvPr/>
        </p:nvCxnSpPr>
        <p:spPr>
          <a:xfrm>
            <a:off x="0" y="898298"/>
            <a:ext cx="12192000" cy="0"/>
          </a:xfrm>
          <a:prstGeom prst="line">
            <a:avLst/>
          </a:prstGeom>
          <a:ln w="38100">
            <a:solidFill>
              <a:srgbClr val="7DD8F0"/>
            </a:solidFill>
          </a:ln>
          <a:effectLst>
            <a:glow rad="101600">
              <a:srgbClr val="7DD8F0">
                <a:alpha val="25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hape 30">
            <a:extLst>
              <a:ext uri="{FF2B5EF4-FFF2-40B4-BE49-F238E27FC236}">
                <a16:creationId xmlns:a16="http://schemas.microsoft.com/office/drawing/2014/main" id="{5F4D3858-1F5A-45EF-8468-A283B461ED55}"/>
              </a:ext>
            </a:extLst>
          </p:cNvPr>
          <p:cNvSpPr/>
          <p:nvPr/>
        </p:nvSpPr>
        <p:spPr>
          <a:xfrm>
            <a:off x="6935778" y="6083839"/>
            <a:ext cx="5035856" cy="640078"/>
          </a:xfrm>
          <a:prstGeom prst="rect">
            <a:avLst/>
          </a:prstGeom>
          <a:solidFill>
            <a:srgbClr val="030F28">
              <a:alpha val="55000"/>
            </a:srgbClr>
          </a:solidFill>
          <a:ln w="10160">
            <a:solidFill>
              <a:srgbClr val="004466">
                <a:alpha val="65000"/>
              </a:srgbClr>
            </a:solidFill>
            <a:prstDash val="solid"/>
          </a:ln>
        </p:spPr>
      </p:sp>
      <p:sp>
        <p:nvSpPr>
          <p:cNvPr id="26" name="Text 31">
            <a:extLst>
              <a:ext uri="{FF2B5EF4-FFF2-40B4-BE49-F238E27FC236}">
                <a16:creationId xmlns:a16="http://schemas.microsoft.com/office/drawing/2014/main" id="{8AA18A70-70D8-48E8-8C51-177915FC2D7F}"/>
              </a:ext>
            </a:extLst>
          </p:cNvPr>
          <p:cNvSpPr/>
          <p:nvPr/>
        </p:nvSpPr>
        <p:spPr>
          <a:xfrm>
            <a:off x="7343654" y="6168399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AAB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32">
            <a:extLst>
              <a:ext uri="{FF2B5EF4-FFF2-40B4-BE49-F238E27FC236}">
                <a16:creationId xmlns:a16="http://schemas.microsoft.com/office/drawing/2014/main" id="{25658036-340C-46C6-A207-1587A1AEB309}"/>
              </a:ext>
            </a:extLst>
          </p:cNvPr>
          <p:cNvSpPr/>
          <p:nvPr/>
        </p:nvSpPr>
        <p:spPr>
          <a:xfrm>
            <a:off x="7343654" y="6378711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66 db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33">
            <a:extLst>
              <a:ext uri="{FF2B5EF4-FFF2-40B4-BE49-F238E27FC236}">
                <a16:creationId xmlns:a16="http://schemas.microsoft.com/office/drawing/2014/main" id="{6E029F9D-043E-4492-9D95-A1BC6D94EB87}"/>
              </a:ext>
            </a:extLst>
          </p:cNvPr>
          <p:cNvSpPr/>
          <p:nvPr/>
        </p:nvSpPr>
        <p:spPr>
          <a:xfrm>
            <a:off x="8194046" y="6168399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AAB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Laptop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34">
            <a:extLst>
              <a:ext uri="{FF2B5EF4-FFF2-40B4-BE49-F238E27FC236}">
                <a16:creationId xmlns:a16="http://schemas.microsoft.com/office/drawing/2014/main" id="{6F549793-A3C4-49E1-81DF-E6D3FACB40B2}"/>
              </a:ext>
            </a:extLst>
          </p:cNvPr>
          <p:cNvSpPr/>
          <p:nvPr/>
        </p:nvSpPr>
        <p:spPr>
          <a:xfrm>
            <a:off x="8194046" y="6378711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44 db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35">
            <a:extLst>
              <a:ext uri="{FF2B5EF4-FFF2-40B4-BE49-F238E27FC236}">
                <a16:creationId xmlns:a16="http://schemas.microsoft.com/office/drawing/2014/main" id="{6B23ADC0-BE63-4AAC-9272-C5AAFA4A1CFE}"/>
              </a:ext>
            </a:extLst>
          </p:cNvPr>
          <p:cNvSpPr/>
          <p:nvPr/>
        </p:nvSpPr>
        <p:spPr>
          <a:xfrm>
            <a:off x="9044438" y="6168399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AAB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36">
            <a:extLst>
              <a:ext uri="{FF2B5EF4-FFF2-40B4-BE49-F238E27FC236}">
                <a16:creationId xmlns:a16="http://schemas.microsoft.com/office/drawing/2014/main" id="{A37CEC1D-5531-434F-9C8C-B21D70641C8C}"/>
              </a:ext>
            </a:extLst>
          </p:cNvPr>
          <p:cNvSpPr/>
          <p:nvPr/>
        </p:nvSpPr>
        <p:spPr>
          <a:xfrm>
            <a:off x="9044438" y="6378711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 db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7">
            <a:extLst>
              <a:ext uri="{FF2B5EF4-FFF2-40B4-BE49-F238E27FC236}">
                <a16:creationId xmlns:a16="http://schemas.microsoft.com/office/drawing/2014/main" id="{89604BAF-8C0F-4147-B0D4-BDB6376D08FD}"/>
              </a:ext>
            </a:extLst>
          </p:cNvPr>
          <p:cNvSpPr/>
          <p:nvPr/>
        </p:nvSpPr>
        <p:spPr>
          <a:xfrm>
            <a:off x="9894830" y="6168399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AAB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Szerver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8">
            <a:extLst>
              <a:ext uri="{FF2B5EF4-FFF2-40B4-BE49-F238E27FC236}">
                <a16:creationId xmlns:a16="http://schemas.microsoft.com/office/drawing/2014/main" id="{DE4EE621-845C-4DAD-8114-D5E8BB35846A}"/>
              </a:ext>
            </a:extLst>
          </p:cNvPr>
          <p:cNvSpPr/>
          <p:nvPr/>
        </p:nvSpPr>
        <p:spPr>
          <a:xfrm>
            <a:off x="9894830" y="6378711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 db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9">
            <a:extLst>
              <a:ext uri="{FF2B5EF4-FFF2-40B4-BE49-F238E27FC236}">
                <a16:creationId xmlns:a16="http://schemas.microsoft.com/office/drawing/2014/main" id="{517C9A30-3D53-4217-93FD-801A3871A910}"/>
              </a:ext>
            </a:extLst>
          </p:cNvPr>
          <p:cNvSpPr/>
          <p:nvPr/>
        </p:nvSpPr>
        <p:spPr>
          <a:xfrm>
            <a:off x="10745222" y="6168399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AAB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Telefon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40">
            <a:extLst>
              <a:ext uri="{FF2B5EF4-FFF2-40B4-BE49-F238E27FC236}">
                <a16:creationId xmlns:a16="http://schemas.microsoft.com/office/drawing/2014/main" id="{5B79259B-4075-4E12-AA5D-904D4974FE2F}"/>
              </a:ext>
            </a:extLst>
          </p:cNvPr>
          <p:cNvSpPr/>
          <p:nvPr/>
        </p:nvSpPr>
        <p:spPr>
          <a:xfrm>
            <a:off x="10745222" y="6378711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21 db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51DEF4CD-9A2B-4E79-906C-F5EE036AFC96}"/>
              </a:ext>
            </a:extLst>
          </p:cNvPr>
          <p:cNvSpPr/>
          <p:nvPr/>
        </p:nvSpPr>
        <p:spPr>
          <a:xfrm>
            <a:off x="6935780" y="1108611"/>
            <a:ext cx="5035854" cy="2320385"/>
          </a:xfrm>
          <a:prstGeom prst="rect">
            <a:avLst/>
          </a:prstGeom>
          <a:solidFill>
            <a:srgbClr val="030F28">
              <a:alpha val="55000"/>
            </a:srgbClr>
          </a:solidFill>
          <a:ln w="10160">
            <a:solidFill>
              <a:srgbClr val="00C8FF">
                <a:alpha val="65000"/>
              </a:srgbClr>
            </a:solidFill>
            <a:prstDash val="solid"/>
          </a:ln>
        </p:spPr>
      </p:sp>
      <p:sp>
        <p:nvSpPr>
          <p:cNvPr id="37" name="Shape 23">
            <a:extLst>
              <a:ext uri="{FF2B5EF4-FFF2-40B4-BE49-F238E27FC236}">
                <a16:creationId xmlns:a16="http://schemas.microsoft.com/office/drawing/2014/main" id="{70F8D027-5729-41B9-A3EA-4BE994926640}"/>
              </a:ext>
            </a:extLst>
          </p:cNvPr>
          <p:cNvSpPr/>
          <p:nvPr/>
        </p:nvSpPr>
        <p:spPr>
          <a:xfrm>
            <a:off x="6935779" y="1108611"/>
            <a:ext cx="75809" cy="2320381"/>
          </a:xfrm>
          <a:prstGeom prst="rect">
            <a:avLst/>
          </a:prstGeom>
          <a:solidFill>
            <a:srgbClr val="7DD8F0">
              <a:alpha val="90000"/>
            </a:srgbClr>
          </a:solidFill>
          <a:ln w="12700">
            <a:solidFill>
              <a:srgbClr val="7DD8F0"/>
            </a:solidFill>
            <a:prstDash val="solid"/>
          </a:ln>
        </p:spPr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B94A6434-63D0-44D0-A44E-4766AA228B17}"/>
              </a:ext>
            </a:extLst>
          </p:cNvPr>
          <p:cNvSpPr/>
          <p:nvPr/>
        </p:nvSpPr>
        <p:spPr>
          <a:xfrm>
            <a:off x="7260674" y="1227172"/>
            <a:ext cx="4710960" cy="3762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Épület</a:t>
            </a:r>
            <a:r>
              <a:rPr lang="en-US" sz="2400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kialakítása</a:t>
            </a:r>
            <a:endParaRPr lang="hu-HU" sz="2400" b="1" dirty="0">
              <a:solidFill>
                <a:srgbClr val="00C8F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B9E43DC7-79D7-4921-8F4D-1C3C6949442D}"/>
              </a:ext>
            </a:extLst>
          </p:cNvPr>
          <p:cNvSpPr/>
          <p:nvPr/>
        </p:nvSpPr>
        <p:spPr>
          <a:xfrm>
            <a:off x="7260674" y="1645751"/>
            <a:ext cx="4710960" cy="1290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Tégla külső fal · gipszkarton válaszfalak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Modern bútorok, tágas terek, zöld növények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Mozgásérzékelős + LED világítás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Okos termosztát · jelenlétvezérelt klíma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Napelemes rendszer (4–6% lefedettség)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22">
            <a:extLst>
              <a:ext uri="{FF2B5EF4-FFF2-40B4-BE49-F238E27FC236}">
                <a16:creationId xmlns:a16="http://schemas.microsoft.com/office/drawing/2014/main" id="{5F1D4044-0DA9-45A8-BB25-AFF19265769A}"/>
              </a:ext>
            </a:extLst>
          </p:cNvPr>
          <p:cNvSpPr/>
          <p:nvPr/>
        </p:nvSpPr>
        <p:spPr>
          <a:xfrm>
            <a:off x="6935779" y="3618260"/>
            <a:ext cx="5035854" cy="2320385"/>
          </a:xfrm>
          <a:prstGeom prst="rect">
            <a:avLst/>
          </a:prstGeom>
          <a:solidFill>
            <a:srgbClr val="030F28">
              <a:alpha val="55000"/>
            </a:srgbClr>
          </a:solidFill>
          <a:ln w="10160">
            <a:solidFill>
              <a:srgbClr val="00C8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218EC1B5-8B12-4AA5-9353-0B8AE95AD080}"/>
              </a:ext>
            </a:extLst>
          </p:cNvPr>
          <p:cNvSpPr/>
          <p:nvPr/>
        </p:nvSpPr>
        <p:spPr>
          <a:xfrm>
            <a:off x="6935778" y="3618260"/>
            <a:ext cx="75809" cy="2320381"/>
          </a:xfrm>
          <a:prstGeom prst="rect">
            <a:avLst/>
          </a:prstGeom>
          <a:solidFill>
            <a:srgbClr val="7DD8F0">
              <a:alpha val="90000"/>
            </a:srgbClr>
          </a:solidFill>
          <a:ln w="12700">
            <a:solidFill>
              <a:srgbClr val="7DD8F0"/>
            </a:solidFill>
            <a:prstDash val="solid"/>
          </a:ln>
        </p:spPr>
      </p:sp>
      <p:sp>
        <p:nvSpPr>
          <p:cNvPr id="43" name="Text 28">
            <a:extLst>
              <a:ext uri="{FF2B5EF4-FFF2-40B4-BE49-F238E27FC236}">
                <a16:creationId xmlns:a16="http://schemas.microsoft.com/office/drawing/2014/main" id="{0A241745-121E-4C2C-8B63-D8DBDC9839A8}"/>
              </a:ext>
            </a:extLst>
          </p:cNvPr>
          <p:cNvSpPr/>
          <p:nvPr/>
        </p:nvSpPr>
        <p:spPr>
          <a:xfrm>
            <a:off x="7343654" y="3765561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⚡  Energiatakarékosság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29">
            <a:extLst>
              <a:ext uri="{FF2B5EF4-FFF2-40B4-BE49-F238E27FC236}">
                <a16:creationId xmlns:a16="http://schemas.microsoft.com/office/drawing/2014/main" id="{11031D86-C85D-45FF-95D9-472343CAD334}"/>
              </a:ext>
            </a:extLst>
          </p:cNvPr>
          <p:cNvSpPr/>
          <p:nvPr/>
        </p:nvSpPr>
        <p:spPr>
          <a:xfrm>
            <a:off x="7407661" y="4170161"/>
            <a:ext cx="4488915" cy="16576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LED: 70–80% megtakarítás · mozgásérzékelő: 30–40%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Fűtés: 15% csökkentés okos termosztáttal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PC alvó üzemmód · kétoldalas nyomtatás alap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538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E2863C-457E-4E08-AFF9-8C48574A9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01757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Budapest– </a:t>
            </a:r>
            <a:r>
              <a:rPr lang="hu-HU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Épület alaprajza és Wi-Fi lefedettség 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5AC9DDB-FEAE-49C0-9448-D26A5BDD493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293" y="91692"/>
            <a:ext cx="1138019" cy="71006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86D745DD-DF22-40E7-9D54-67425F095BCB}"/>
              </a:ext>
            </a:extLst>
          </p:cNvPr>
          <p:cNvCxnSpPr>
            <a:cxnSpLocks/>
          </p:cNvCxnSpPr>
          <p:nvPr/>
        </p:nvCxnSpPr>
        <p:spPr>
          <a:xfrm>
            <a:off x="0" y="898298"/>
            <a:ext cx="12192000" cy="0"/>
          </a:xfrm>
          <a:prstGeom prst="line">
            <a:avLst/>
          </a:prstGeom>
          <a:ln w="38100">
            <a:solidFill>
              <a:srgbClr val="7DD8F0"/>
            </a:solidFill>
          </a:ln>
          <a:effectLst>
            <a:glow rad="101600">
              <a:srgbClr val="7DD8F0">
                <a:alpha val="25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hape 4">
            <a:extLst>
              <a:ext uri="{FF2B5EF4-FFF2-40B4-BE49-F238E27FC236}">
                <a16:creationId xmlns:a16="http://schemas.microsoft.com/office/drawing/2014/main" id="{453F13A0-62E7-4756-BF64-E879503659BB}"/>
              </a:ext>
            </a:extLst>
          </p:cNvPr>
          <p:cNvSpPr/>
          <p:nvPr/>
        </p:nvSpPr>
        <p:spPr>
          <a:xfrm>
            <a:off x="293189" y="1348741"/>
            <a:ext cx="5509623" cy="5139146"/>
          </a:xfrm>
          <a:prstGeom prst="rect">
            <a:avLst/>
          </a:prstGeom>
          <a:solidFill>
            <a:srgbClr val="030F28">
              <a:alpha val="55000"/>
            </a:srgbClr>
          </a:solidFill>
          <a:ln w="10160">
            <a:solidFill>
              <a:srgbClr val="0099CC">
                <a:alpha val="65000"/>
              </a:srgbClr>
            </a:solidFill>
            <a:prstDash val="solid"/>
          </a:ln>
        </p:spPr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0250295B-A6DB-42CA-AA86-3B6A8EDA28C8}"/>
              </a:ext>
            </a:extLst>
          </p:cNvPr>
          <p:cNvSpPr/>
          <p:nvPr/>
        </p:nvSpPr>
        <p:spPr>
          <a:xfrm>
            <a:off x="6389190" y="1348741"/>
            <a:ext cx="5509623" cy="5139146"/>
          </a:xfrm>
          <a:prstGeom prst="rect">
            <a:avLst/>
          </a:prstGeom>
          <a:solidFill>
            <a:srgbClr val="030F28">
              <a:alpha val="55000"/>
            </a:srgbClr>
          </a:solidFill>
          <a:ln w="10160">
            <a:solidFill>
              <a:srgbClr val="0099CC">
                <a:alpha val="65000"/>
              </a:srgbClr>
            </a:solidFill>
            <a:prstDash val="solid"/>
          </a:ln>
        </p:spPr>
      </p:sp>
      <p:pic>
        <p:nvPicPr>
          <p:cNvPr id="11" name="Kép 10" descr="A képen diagram, Tervrajz, térkép, sematikus rajz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6119A21-73CA-47F7-A4C9-0E326F49E00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163" y="1944913"/>
            <a:ext cx="5231674" cy="430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526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4B87EDF-F1DE-417D-9EF4-FE7395FB7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Gyáli Telephely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DB550D3-03B8-4042-AF72-DA8A6A72D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66194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</Words>
  <Application>Microsoft Office PowerPoint</Application>
  <PresentationFormat>Szélesvásznú</PresentationFormat>
  <Paragraphs>107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Office-téma</vt:lpstr>
      <vt:lpstr>Print Trio </vt:lpstr>
      <vt:lpstr>A Print Trio Kft. bemutatása</vt:lpstr>
      <vt:lpstr>  Vecsési Telephely</vt:lpstr>
      <vt:lpstr>  Vecsés – Épület alaprajza és Wi-Fi lefedettség </vt:lpstr>
      <vt:lpstr>  Vecsési Telephely Hálózata</vt:lpstr>
      <vt:lpstr>  Budapesti Telephely</vt:lpstr>
      <vt:lpstr>  Budapest– Épület alaprajza és Wi-Fi lefedettség </vt:lpstr>
      <vt:lpstr>Gyáli Telephely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Print Trio</dc:title>
  <dc:creator>Zsamboki Zoltan</dc:creator>
  <cp:lastModifiedBy>Zsamboki Zoltan</cp:lastModifiedBy>
  <cp:revision>28</cp:revision>
  <dcterms:created xsi:type="dcterms:W3CDTF">2026-03-24T07:50:32Z</dcterms:created>
  <dcterms:modified xsi:type="dcterms:W3CDTF">2026-03-25T12:02:06Z</dcterms:modified>
</cp:coreProperties>
</file>